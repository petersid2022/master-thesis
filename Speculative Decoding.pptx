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74" r:id="rId10"/>
    <p:sldId id="263" r:id="rId11"/>
    <p:sldId id="264" r:id="rId12"/>
    <p:sldId id="271" r:id="rId13"/>
    <p:sldId id="267" r:id="rId14"/>
    <p:sldId id="268" r:id="rId15"/>
    <p:sldId id="269" r:id="rId16"/>
    <p:sldId id="270" r:id="rId17"/>
    <p:sldId id="266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197" autoAdjust="0"/>
  </p:normalViewPr>
  <p:slideViewPr>
    <p:cSldViewPr snapToGrid="0">
      <p:cViewPr>
        <p:scale>
          <a:sx n="40" d="100"/>
          <a:sy n="40" d="100"/>
        </p:scale>
        <p:origin x="16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5894C-1407-4CA7-AA92-E8DAB67AC53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4C793-BA1A-4D56-B1F6-88A351E95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0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Drafting</a:t>
            </a:r>
          </a:p>
          <a:p>
            <a:r>
              <a:rPr lang="en-US" dirty="0"/>
              <a:t>Sample </a:t>
            </a:r>
            <a:r>
              <a:rPr lang="en-US" b="1" dirty="0"/>
              <a:t>K</a:t>
            </a:r>
            <a:r>
              <a:rPr lang="en-US" dirty="0"/>
              <a:t> tokens from the fast draft model </a:t>
            </a:r>
            <a:r>
              <a:rPr lang="en-US" b="1" dirty="0"/>
              <a:t>q</a:t>
            </a:r>
            <a:r>
              <a:rPr lang="en-US" dirty="0"/>
              <a:t>.</a:t>
            </a:r>
          </a:p>
          <a:p>
            <a:r>
              <a:rPr lang="en-US" b="1" dirty="0"/>
              <a:t>Verification</a:t>
            </a:r>
          </a:p>
          <a:p>
            <a:r>
              <a:rPr lang="en-US" dirty="0"/>
              <a:t>Target model </a:t>
            </a:r>
            <a:r>
              <a:rPr lang="en-US" b="1" dirty="0"/>
              <a:t>p</a:t>
            </a:r>
            <a:r>
              <a:rPr lang="en-US" dirty="0"/>
              <a:t> scores all </a:t>
            </a:r>
            <a:r>
              <a:rPr lang="en-US" b="1" dirty="0"/>
              <a:t>K</a:t>
            </a:r>
            <a:r>
              <a:rPr lang="en-US" dirty="0"/>
              <a:t> tokens in one parallel pass.</a:t>
            </a:r>
          </a:p>
          <a:p>
            <a:r>
              <a:rPr lang="en-US" b="1" dirty="0"/>
              <a:t>Correction</a:t>
            </a:r>
          </a:p>
          <a:p>
            <a:r>
              <a:rPr lang="en-US" dirty="0"/>
              <a:t>Resample from the residual if a draft fails the rejection test.</a:t>
            </a:r>
          </a:p>
          <a:p>
            <a:endParaRPr lang="en-US" dirty="0"/>
          </a:p>
          <a:p>
            <a:r>
              <a:rPr lang="en-US" b="1" dirty="0"/>
              <a:t>Propose</a:t>
            </a:r>
          </a:p>
          <a:p>
            <a:r>
              <a:rPr lang="en-US" dirty="0"/>
              <a:t>Draft model generates K tokens.</a:t>
            </a:r>
          </a:p>
          <a:p>
            <a:r>
              <a:rPr lang="en-US" b="1" dirty="0"/>
              <a:t>Verify</a:t>
            </a:r>
          </a:p>
          <a:p>
            <a:r>
              <a:rPr lang="en-US" dirty="0"/>
              <a:t>Target model computes </a:t>
            </a:r>
            <a:r>
              <a:rPr lang="en-US" dirty="0" err="1"/>
              <a:t>logprobs</a:t>
            </a:r>
            <a:r>
              <a:rPr lang="en-US" dirty="0"/>
              <a:t> in parallel.</a:t>
            </a:r>
          </a:p>
          <a:p>
            <a:r>
              <a:rPr lang="en-US" b="1" dirty="0"/>
              <a:t>Accept</a:t>
            </a:r>
          </a:p>
          <a:p>
            <a:r>
              <a:rPr lang="en-US" dirty="0"/>
              <a:t>Prefix acceptance based on </a:t>
            </a:r>
            <a:r>
              <a:rPr lang="el-GR" dirty="0"/>
              <a:t>α(</a:t>
            </a:r>
            <a:r>
              <a:rPr lang="en-US" dirty="0"/>
              <a:t>x).</a:t>
            </a:r>
          </a:p>
          <a:p>
            <a:r>
              <a:rPr lang="en-US" b="1" dirty="0"/>
              <a:t>Resample</a:t>
            </a:r>
          </a:p>
          <a:p>
            <a:r>
              <a:rPr lang="en-US" dirty="0"/>
              <a:t>Correct the first rejected token.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4C793-BA1A-4D56-B1F6-88A351E95E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3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sample a token more often than the target distribution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4C793-BA1A-4D56-B1F6-88A351E95E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16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4C793-BA1A-4D56-B1F6-88A351E95E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57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3791-9F6D-9A3A-27C4-3C68259F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696E6-3F9D-4B5D-4D8F-4A91B496E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6E4B1-273C-27EE-C5B7-6DB66E559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D5970-CB95-CFC6-3F24-1CE4FB6C9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4C793-BA1A-4D56-B1F6-88A351E95E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85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4C793-BA1A-4D56-B1F6-88A351E95E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39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E4F0-1580-3C09-72E2-3CC96D10F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172DB-A358-0816-ADEC-AE159C59E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AACE5-603D-1C4E-E74D-4919ABBB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D5E8B-4008-5F82-EEE7-1778BFB8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923CE-932D-9384-2C98-DECA5D77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4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E359-D371-FB1C-C75B-9A3DF2B9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06A96-4DEC-BF38-75D7-BF1F6428B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66FF9-6765-EB29-E6EC-131E0F80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19309-FECF-5C33-AFB0-3FE1DFA6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A3F46-D2F0-52C4-5111-B062CE02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3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C46A-670E-AAAF-6208-C9F64C80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DBF64-61BC-777A-0120-304A53CC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B9DAA-22E2-93C8-4EB9-A563B69F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AB4D8-A1A3-99CA-B386-C7882A378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F452-1354-A55D-6072-07F4F78D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8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228D-DA2A-4183-DB2F-F3AEE92F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FACC7-19FF-CD5B-4701-33ADF4508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1FF21-F05D-F0B8-8A95-3DF7F0B75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2D51C-11EE-550C-CD8B-2DE92CA8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6ED90-3949-2FE3-9638-0D43A382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A82E7-BB78-F23C-ACAE-914BF65F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7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C1B5-9D88-EC09-5826-7F6F079B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7ECE5-EF68-5FF3-F265-0FBEA74EE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C5C70-35BC-0D5D-78D3-4A6ACE165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5D62F-A114-B158-35C8-6762D31F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ED750-B917-CD6A-9701-5998A9A01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7A7925-324A-AC4A-4CAD-0F5ACAF98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47450F-CF49-E826-AF14-D8802CF0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C8939-A3EF-A04E-B440-57D50D8F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7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E5E0-E174-7C1D-3559-241A07FB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2D7C8-3132-B398-DA47-4A10CFB0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96598-C781-CCD8-5294-4FC62943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330DE-10B7-BE1D-36E8-213DFE85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C222-B612-9979-B90A-035C1587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44CDB-9AAC-A7F3-69C6-CC38167C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AFBC4-6558-286F-7D82-8B56B201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5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5F04-854B-25B7-1556-F422B3EA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619A-383A-B8D0-44FA-8284A0BF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89E14-40A3-2C1B-0711-7D345BF47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B6B30-0869-A513-A04A-FC48A60B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BDAC5-C413-C0AA-8F56-8AAF47C3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D87BD-D49B-AA3E-16F0-E89E53D3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9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EA68-6AF6-869F-DE9C-B1AB2EBA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A78C9-FBBB-14F4-F5AD-FFA45C537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CEE71-0AFE-8B2D-959D-D73EEFA4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31EE8-D704-9155-1AAD-D348247D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4E5DA-DBFD-40D3-FB11-39F07760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16D03-67E4-52A4-1068-4E086570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0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C8E7-89AD-8D5E-BAF1-23FA4904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BAE6B-B150-5239-7E14-45AEF84C9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640DD-C335-DCD3-CF7A-D913C0F1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029A1-79EA-2AC6-ABE6-8D5FC376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9BF41-AA20-5E1F-A716-D8B5E26D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1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D13523-8B2A-0CD4-3420-CAE7A4575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2C2EB-3860-C39B-FFDC-011C5EA01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BA77-5B1F-7A6A-C000-E57B9FEB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59FAD-206B-EAE7-221E-6B947AE0E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70409-CCD4-CBBD-F531-1673F82F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56FD65-8227-93E9-0B9D-B94260E5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D769-10E4-89F8-6542-76B3A14CD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C6BC6-D238-D276-A165-A03DE2D06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AF36A-BD5C-4F81-A617-7C2B4383F1F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E0418-605A-DBA5-CE88-4C80D2D54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76B2D-9073-38B6-571D-07568C29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21CDB-16B4-4265-88B5-83471E5A5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9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0AB7-C154-EA16-84CF-D834A224C7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Speculative Decoding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DF6FD-8190-0260-9F8A-C3EC8C7BF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Optimizing text generation with Large Language Models via Speculative Decoding</a:t>
            </a:r>
          </a:p>
          <a:p>
            <a:endParaRPr lang="en-US" dirty="0"/>
          </a:p>
          <a:p>
            <a:r>
              <a:rPr lang="en-US" dirty="0"/>
              <a:t>#3</a:t>
            </a:r>
          </a:p>
          <a:p>
            <a:endParaRPr lang="en-US" dirty="0"/>
          </a:p>
          <a:p>
            <a:r>
              <a:rPr lang="en-US" dirty="0"/>
              <a:t>Sideris Petros</a:t>
            </a:r>
          </a:p>
        </p:txBody>
      </p:sp>
    </p:spTree>
    <p:extLst>
      <p:ext uri="{BB962C8B-B14F-4D97-AF65-F5344CB8AC3E}">
        <p14:creationId xmlns:p14="http://schemas.microsoft.com/office/powerpoint/2010/main" val="216453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5503-7025-63CE-C91F-BC7F827B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368A-DBE9-D4B2-0218-1852B4F0A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/>
              <a:t>Quick Refresher</a:t>
            </a:r>
          </a:p>
          <a:p>
            <a:pPr>
              <a:lnSpc>
                <a:spcPct val="160000"/>
              </a:lnSpc>
            </a:pPr>
            <a:r>
              <a:rPr lang="en-US" dirty="0"/>
              <a:t>Where I am</a:t>
            </a:r>
          </a:p>
          <a:p>
            <a:pPr>
              <a:lnSpc>
                <a:spcPct val="160000"/>
              </a:lnSpc>
            </a:pPr>
            <a:r>
              <a:rPr lang="en-US" dirty="0"/>
              <a:t>Quality Evaluation</a:t>
            </a:r>
          </a:p>
          <a:p>
            <a:pPr>
              <a:lnSpc>
                <a:spcPct val="160000"/>
              </a:lnSpc>
            </a:pPr>
            <a:r>
              <a:rPr lang="en-US" dirty="0"/>
              <a:t>The N-gram Language Model</a:t>
            </a:r>
          </a:p>
          <a:p>
            <a:pPr>
              <a:lnSpc>
                <a:spcPct val="160000"/>
              </a:lnSpc>
            </a:pPr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773684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F523-F63A-F4B4-F368-582D578E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E55C1-3B30-FCD9-621C-43D575D98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Transformer decoding: highly costly and inefficient process.</a:t>
            </a:r>
          </a:p>
          <a:p>
            <a:pPr>
              <a:lnSpc>
                <a:spcPct val="150000"/>
              </a:lnSpc>
            </a:pPr>
            <a:r>
              <a:rPr lang="en-US" dirty="0"/>
              <a:t>Instead of doing the hard work, guess and hope you are correct.</a:t>
            </a:r>
          </a:p>
          <a:p>
            <a:pPr>
              <a:lnSpc>
                <a:spcPct val="150000"/>
              </a:lnSpc>
            </a:pPr>
            <a:r>
              <a:rPr lang="en-US" dirty="0"/>
              <a:t>How Speculative Decoding works in general: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 a small model to generate a bunch of tokens (the hard thing)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Verify them in parallel (easy for the big LLM due to SIMD/SIMT)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Win big or die trying</a:t>
            </a:r>
          </a:p>
        </p:txBody>
      </p:sp>
    </p:spTree>
    <p:extLst>
      <p:ext uri="{BB962C8B-B14F-4D97-AF65-F5344CB8AC3E}">
        <p14:creationId xmlns:p14="http://schemas.microsoft.com/office/powerpoint/2010/main" val="280919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8E98-D0AF-7A5B-816B-117FCABF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 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0137-AA7E-5163-3562-4D0CB96B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490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A C++ engine wrapping </a:t>
            </a:r>
            <a:r>
              <a:rPr lang="en-US" dirty="0" err="1"/>
              <a:t>libllama</a:t>
            </a:r>
            <a:r>
              <a:rPr lang="en-US" dirty="0"/>
              <a:t>, which supports:</a:t>
            </a:r>
          </a:p>
          <a:p>
            <a:pPr>
              <a:lnSpc>
                <a:spcPct val="150000"/>
              </a:lnSpc>
            </a:pPr>
            <a:r>
              <a:rPr lang="en-US" dirty="0"/>
              <a:t>Draft-based + N-gram speculative decoding or pure AR,</a:t>
            </a:r>
          </a:p>
          <a:p>
            <a:pPr>
              <a:lnSpc>
                <a:spcPct val="150000"/>
              </a:lnSpc>
            </a:pPr>
            <a:r>
              <a:rPr lang="en-US" dirty="0"/>
              <a:t>Hybrid cascade (n-gram-first, model fallback on miss)</a:t>
            </a:r>
          </a:p>
          <a:p>
            <a:pPr>
              <a:lnSpc>
                <a:spcPct val="150000"/>
              </a:lnSpc>
            </a:pPr>
            <a:r>
              <a:rPr lang="en-US" dirty="0"/>
              <a:t>Built-in eval metrics (accept rate, </a:t>
            </a:r>
            <a:r>
              <a:rPr lang="en-US" dirty="0" err="1"/>
              <a:t>tok</a:t>
            </a:r>
            <a:r>
              <a:rPr lang="en-US" dirty="0"/>
              <a:t>/s, per-token </a:t>
            </a:r>
            <a:r>
              <a:rPr lang="en-US" dirty="0" err="1"/>
              <a:t>p_target</a:t>
            </a:r>
            <a:r>
              <a:rPr lang="en-US" dirty="0"/>
              <a:t>/</a:t>
            </a:r>
            <a:r>
              <a:rPr lang="en-US" dirty="0" err="1"/>
              <a:t>p_draft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Multiple bells and whistles (top-k, top-p, </a:t>
            </a:r>
            <a:r>
              <a:rPr lang="en-US" dirty="0" err="1"/>
              <a:t>ctx</a:t>
            </a:r>
            <a:r>
              <a:rPr lang="en-US" dirty="0"/>
              <a:t>-size, temp, n-gram, etc.)</a:t>
            </a:r>
          </a:p>
        </p:txBody>
      </p:sp>
    </p:spTree>
    <p:extLst>
      <p:ext uri="{BB962C8B-B14F-4D97-AF65-F5344CB8AC3E}">
        <p14:creationId xmlns:p14="http://schemas.microsoft.com/office/powerpoint/2010/main" val="283555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CA14-5113-147F-3A8C-CE36C822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 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695D7-1100-52EA-F874-4E88C8295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Multiple upstream contributions to llama.cpp</a:t>
            </a:r>
          </a:p>
          <a:p>
            <a:pPr>
              <a:lnSpc>
                <a:spcPct val="150000"/>
              </a:lnSpc>
            </a:pPr>
            <a:r>
              <a:rPr lang="en-US" dirty="0"/>
              <a:t>spec : allow for multiple spec types (chains of speculators)</a:t>
            </a:r>
          </a:p>
          <a:p>
            <a:pPr>
              <a:lnSpc>
                <a:spcPct val="150000"/>
              </a:lnSpc>
            </a:pPr>
            <a:r>
              <a:rPr lang="en-US" dirty="0"/>
              <a:t>spec : save the dynamic/static </a:t>
            </a:r>
            <a:r>
              <a:rPr lang="en-US" dirty="0" err="1"/>
              <a:t>ngram</a:t>
            </a:r>
            <a:r>
              <a:rPr lang="en-US" dirty="0"/>
              <a:t> cache file</a:t>
            </a:r>
          </a:p>
          <a:p>
            <a:pPr>
              <a:lnSpc>
                <a:spcPct val="150000"/>
              </a:lnSpc>
            </a:pPr>
            <a:r>
              <a:rPr lang="en-US" dirty="0"/>
              <a:t>spec : fix vocab </a:t>
            </a:r>
            <a:r>
              <a:rPr lang="en-US" dirty="0" err="1"/>
              <a:t>compat</a:t>
            </a:r>
            <a:r>
              <a:rPr lang="en-US" dirty="0"/>
              <a:t> checks in spec example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157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CC3A2-2DEE-0FC5-4B98-7A3A34728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294-36AE-CE00-769A-D56C79DAE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know that the text SD produces is "as good as" what the target model would have produced on its own?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perplexity</a:t>
            </a:r>
            <a:r>
              <a:rPr lang="en-US" dirty="0"/>
              <a:t> is a statistical metric used to measure how effectively an LLM predicts the next word in a sequence based on the context</a:t>
            </a:r>
          </a:p>
          <a:p>
            <a:pPr lvl="1"/>
            <a:r>
              <a:rPr lang="en-US" i="1" dirty="0"/>
              <a:t>Low Perplexity:</a:t>
            </a:r>
            <a:r>
              <a:rPr lang="en-US" b="1" i="1" dirty="0"/>
              <a:t>	</a:t>
            </a:r>
            <a:r>
              <a:rPr lang="en-US" dirty="0"/>
              <a:t>The model is confident and highly accurate</a:t>
            </a:r>
          </a:p>
          <a:p>
            <a:pPr lvl="1"/>
            <a:r>
              <a:rPr lang="en-US" i="1" dirty="0"/>
              <a:t>High Perplexity:</a:t>
            </a:r>
            <a:r>
              <a:rPr lang="en-US" b="1" i="1" dirty="0"/>
              <a:t>	</a:t>
            </a:r>
            <a:r>
              <a:rPr lang="en-US" dirty="0"/>
              <a:t>The model is confused by the text or struggles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Cool! Let’s run target alone, run SD, compute perplexity of each output, compare.</a:t>
            </a:r>
          </a:p>
        </p:txBody>
      </p:sp>
    </p:spTree>
    <p:extLst>
      <p:ext uri="{BB962C8B-B14F-4D97-AF65-F5344CB8AC3E}">
        <p14:creationId xmlns:p14="http://schemas.microsoft.com/office/powerpoint/2010/main" val="161033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4319-6AD4-8E58-3606-33F55AC0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4B43-7F18-9274-383B-D5E6BAFD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5EF57-6F41-D67D-4739-41DB3B504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Not quite,</a:t>
            </a:r>
          </a:p>
          <a:p>
            <a:r>
              <a:rPr lang="en-US" dirty="0"/>
              <a:t>They sample different sequences to begin with,</a:t>
            </a:r>
          </a:p>
          <a:p>
            <a:r>
              <a:rPr lang="en-US" dirty="0"/>
              <a:t>Perplexity of a </a:t>
            </a:r>
            <a:r>
              <a:rPr lang="en-US" i="1" dirty="0"/>
              <a:t>generated</a:t>
            </a:r>
            <a:r>
              <a:rPr lang="en-US" dirty="0"/>
              <a:t> sequence under the model that generated it is a self-evaluation, not a comparison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speculative decoding is designed to accelerate inference without changing the final output text distribution (</a:t>
            </a:r>
            <a:r>
              <a:rPr lang="da-DK" dirty="0"/>
              <a:t>Leviathan et al. (2022))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r>
              <a:rPr lang="en-US" dirty="0"/>
              <a:t>still useful as a </a:t>
            </a:r>
            <a:r>
              <a:rPr lang="en-US" i="1" dirty="0"/>
              <a:t>sanity check</a:t>
            </a:r>
            <a:r>
              <a:rPr lang="en-US" dirty="0"/>
              <a:t> (the implementation is correct) </a:t>
            </a:r>
            <a:br>
              <a:rPr lang="en-US" dirty="0"/>
            </a:br>
            <a:r>
              <a:rPr lang="en-US" dirty="0"/>
              <a:t>and as a </a:t>
            </a:r>
            <a:r>
              <a:rPr lang="en-US" i="1" dirty="0"/>
              <a:t>drift metric</a:t>
            </a:r>
            <a:r>
              <a:rPr lang="en-US" dirty="0"/>
              <a:t> (for lossy variants)</a:t>
            </a:r>
            <a:endParaRPr lang="da-DK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0B38-D928-D9FD-C902-4D48BD71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63A7-07B7-BD9F-C6BF-77920199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4A52B-0AF2-8EAA-D3AA-1056CFFDD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𝑐𝑡𝑥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target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𝑐𝑡𝑥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draft distribution. </a:t>
                </a:r>
                <a:br>
                  <a:rPr lang="en-US" dirty="0"/>
                </a:br>
                <a:r>
                  <a:rPr lang="en-US" dirty="0"/>
                  <a:t>We normally use the following acceptance criteria: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⁡(1,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dirty="0"/>
                  <a:t>When perplexity does come into play: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Introduce a bias (</a:t>
                </a: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l-GR" b="0" i="1" smtClean="0">
                        <a:latin typeface="Cambria Math" panose="02040503050406030204" pitchFamily="18" charset="0"/>
                      </a:rPr>
                      <m:t>&gt;1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Reward-guided (RSD) (</a:t>
                </a:r>
                <a:r>
                  <a:rPr lang="da-DK" dirty="0"/>
                  <a:t>Liao et al. (2025))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Aggressive draft quantization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4A52B-0AF2-8EAA-D3AA-1056CFFDD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32375"/>
              </a:xfrm>
              <a:blipFill>
                <a:blip r:embed="rId3"/>
                <a:stretch>
                  <a:fillRect l="-1217" t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43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F64E-DEC6-003E-5F78-1F3DAA44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9EAEA-D22E-7CF7-DF46-47A4B462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Metrics we actually report include:</a:t>
            </a:r>
          </a:p>
          <a:p>
            <a:pPr>
              <a:lnSpc>
                <a:spcPct val="150000"/>
              </a:lnSpc>
            </a:pPr>
            <a:r>
              <a:rPr lang="en-US" dirty="0"/>
              <a:t>Decode throughput </a:t>
            </a:r>
            <a:r>
              <a:rPr lang="en-US" i="1" dirty="0"/>
              <a:t>(tokens/s)</a:t>
            </a:r>
          </a:p>
          <a:p>
            <a:pPr>
              <a:lnSpc>
                <a:spcPct val="150000"/>
              </a:lnSpc>
            </a:pPr>
            <a:r>
              <a:rPr lang="en-US" dirty="0"/>
              <a:t>Latency per token </a:t>
            </a:r>
            <a:r>
              <a:rPr lang="en-US" i="1" dirty="0"/>
              <a:t>(</a:t>
            </a:r>
            <a:r>
              <a:rPr lang="en-US" i="1" dirty="0" err="1"/>
              <a:t>ms</a:t>
            </a:r>
            <a:r>
              <a:rPr lang="en-US" i="1" dirty="0"/>
              <a:t>/token)</a:t>
            </a:r>
          </a:p>
          <a:p>
            <a:pPr>
              <a:lnSpc>
                <a:spcPct val="150000"/>
              </a:lnSpc>
            </a:pPr>
            <a:r>
              <a:rPr lang="en-US" dirty="0"/>
              <a:t>Acceptance rate </a:t>
            </a:r>
            <a:r>
              <a:rPr lang="en-US" i="1" dirty="0"/>
              <a:t>(accepted draft tokens / generated draft tokens)</a:t>
            </a:r>
          </a:p>
          <a:p>
            <a:pPr>
              <a:lnSpc>
                <a:spcPct val="150000"/>
              </a:lnSpc>
            </a:pPr>
            <a:r>
              <a:rPr lang="en-US" dirty="0"/>
              <a:t>Mean accepted tokens per speculative round</a:t>
            </a:r>
          </a:p>
          <a:p>
            <a:pPr>
              <a:lnSpc>
                <a:spcPct val="150000"/>
              </a:lnSpc>
            </a:pPr>
            <a:r>
              <a:rPr lang="en-US" dirty="0"/>
              <a:t>Per-token distribution (aka </a:t>
            </a:r>
            <a:r>
              <a:rPr lang="en-US" i="1" dirty="0" err="1"/>
              <a:t>p_target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0457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7CCBD-DE73-FE06-E302-634763C9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N-gram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A531B-E6AC-C493-311C-F5FCBCE80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Instead of computing the probability of a word given its entire history, we can guess the history by just the last few words.</a:t>
            </a:r>
            <a:br>
              <a:rPr lang="en-US" dirty="0"/>
            </a:b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n-gram</a:t>
            </a:r>
            <a:r>
              <a:rPr lang="en-US" dirty="0"/>
              <a:t> is a probabilistic model that can estimate the probability of a word given the </a:t>
            </a:r>
            <a:r>
              <a:rPr lang="en-US" i="1" dirty="0"/>
              <a:t>n-1</a:t>
            </a:r>
            <a:r>
              <a:rPr lang="en-US" dirty="0"/>
              <a:t> previous words</a:t>
            </a:r>
            <a:br>
              <a:rPr lang="en-US" dirty="0"/>
            </a:b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assumption that the probability of a word depends only on the previous word is called a Markov assumption.</a:t>
            </a:r>
          </a:p>
        </p:txBody>
      </p:sp>
    </p:spTree>
    <p:extLst>
      <p:ext uri="{BB962C8B-B14F-4D97-AF65-F5344CB8AC3E}">
        <p14:creationId xmlns:p14="http://schemas.microsoft.com/office/powerpoint/2010/main" val="115333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44E4-43C6-A970-A3CD-29BEFC05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EB78-5B79-7E35-3939-4FC1A8BA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N-gram Language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B757F-D0FB-6A5C-1059-68BF66275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aka predict the probability of some future unit without </a:t>
                </a:r>
                <a:r>
                  <a:rPr lang="en-US" i="1" dirty="0"/>
                  <a:t>(hopefully) </a:t>
                </a:r>
                <a:r>
                  <a:rPr lang="en-US" dirty="0"/>
                  <a:t>looking too far into the past.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Instead of computing the probability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𝑤𝑎𝑡𝑒𝑟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𝑊𝑎𝑙𝑑𝑒𝑛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𝑏𝑒𝑎𝑢𝑡𝑖𝑓𝑢𝑙𝑙𝑦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we approximate it with the probability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𝑏𝑒𝑎𝑢𝑡𝑖𝑓𝑢𝑙𝑙𝑦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B757F-D0FB-6A5C-1059-68BF66275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032375"/>
              </a:xfrm>
              <a:blipFill>
                <a:blip r:embed="rId3"/>
                <a:stretch>
                  <a:fillRect l="-1217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529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F1954-3D9C-DD35-3625-C6AC022F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4604-74A3-4299-58D0-AF5B412B6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B801E-78DB-3DD0-F0A4-E8D0301C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834"/>
            <a:ext cx="12192000" cy="584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70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1002-4191-CF2B-D7AF-7F3719A6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6180E-65D0-DBE1-48C5-56546450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F49438-127C-1FA3-47E5-678A3BF7E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0"/>
            <a:ext cx="11899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780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72CE-0FB3-5CB2-E9D6-E66FD085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5CB3-7732-B720-78BC-A7173370C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D34ECA7-5D7A-4040-A704-B521074C2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638"/>
            <a:ext cx="12192000" cy="656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202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7527-873F-8453-BA5C-95E2E9A3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3C494-1770-8BD6-5717-B3518A723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C1FA753-8609-BA29-BEFB-89DD7C62B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1219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017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C2EC9-8CC7-39A7-3ACA-B648D7A9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1B45-C522-026F-37DE-2804BFFED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24BCE6D-D929-CB71-9F64-2FAB295CC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738"/>
            <a:ext cx="12192000" cy="648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218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91EC-1E2E-4C84-B667-D3AF6B43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BE78C-2817-7B9B-6DD2-5B2689EE5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44473-C37B-60C1-4962-87773E6A9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980733"/>
            <a:ext cx="11298227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8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64BC-3D7C-44C8-DA72-542F465A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AA84-B457-F3D1-71EA-8462A3AA8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DD7C3-0CBB-BD18-C88F-F1C3F1CF4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14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7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701</Words>
  <Application>Microsoft Office PowerPoint</Application>
  <PresentationFormat>Widescreen</PresentationFormat>
  <Paragraphs>93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Speculative Decoding</vt:lpstr>
      <vt:lpstr>Agenda</vt:lpstr>
      <vt:lpstr>Quick Refresher</vt:lpstr>
      <vt:lpstr>Where I am</vt:lpstr>
      <vt:lpstr>Where I am</vt:lpstr>
      <vt:lpstr>Quality Evaluation</vt:lpstr>
      <vt:lpstr>Quality Evaluation</vt:lpstr>
      <vt:lpstr>Quality Evaluation</vt:lpstr>
      <vt:lpstr>Quality Evaluation</vt:lpstr>
      <vt:lpstr>The N-gram Language Model</vt:lpstr>
      <vt:lpstr>The N-gram Language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Petros Sideris (Nokia)</dc:creator>
  <cp:lastModifiedBy>Petros Sideris (Nokia)</cp:lastModifiedBy>
  <cp:revision>5</cp:revision>
  <dcterms:created xsi:type="dcterms:W3CDTF">2026-06-02T11:39:45Z</dcterms:created>
  <dcterms:modified xsi:type="dcterms:W3CDTF">2026-06-02T15:54:54Z</dcterms:modified>
</cp:coreProperties>
</file>